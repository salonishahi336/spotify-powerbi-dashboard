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60" r:id="rId5"/>
    <p:sldId id="261" r:id="rId6"/>
    <p:sldId id="264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7C1F"/>
    <a:srgbClr val="169625"/>
    <a:srgbClr val="1AB8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5E797-847D-348C-C21F-C3FA8718D3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1094D4-8595-2ADD-9E85-A37DC4442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0817C-C7A3-853D-B5F1-4E0611A2F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D3D5-3347-4AC7-9D53-D1F7D93AC8E9}" type="datetimeFigureOut">
              <a:rPr lang="en-IN" smtClean="0"/>
              <a:t>08-01-2025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D5D7F-E323-91FC-398E-72A278EFE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8B81B-8BD7-1E14-A88B-F7E02A124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16D61-440C-4AEA-B044-7DD2EE41E1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357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0AA10-95B2-514E-68C0-93E70D090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3B422-1352-851B-E534-8931108A9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F47E3-AC15-555D-A664-A0E2E6EEC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D3D5-3347-4AC7-9D53-D1F7D93AC8E9}" type="datetimeFigureOut">
              <a:rPr lang="en-IN" smtClean="0"/>
              <a:t>08-01-2025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96F36-FB25-AC34-FD7D-DFC91ED22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3D28E-E3C0-4037-8847-6BC1351E9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16D61-440C-4AEA-B044-7DD2EE41E1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1095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EBD01-D2BA-8F9F-4501-60D9EAE93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06555-FB0E-FC70-1BDC-72B3F8F8C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8B6DC-B6EC-7EAE-A9D5-F1A8768AA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D3D5-3347-4AC7-9D53-D1F7D93AC8E9}" type="datetimeFigureOut">
              <a:rPr lang="en-IN" smtClean="0"/>
              <a:t>08-01-2025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5BC6A-0415-FAEB-4ADF-4E72652E3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8FD1E-EFB5-24EB-C155-EBD872D4B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16D61-440C-4AEA-B044-7DD2EE41E1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91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130A4-7296-D863-BAD6-FAC1EADD7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5AF61-F229-5344-FF27-04126AFF1D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9AA0A8-E4B3-1C9C-CAC0-0EEC81A86A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9CA25-F700-EC4F-A9BE-9D63CB1B1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D3D5-3347-4AC7-9D53-D1F7D93AC8E9}" type="datetimeFigureOut">
              <a:rPr lang="en-IN" smtClean="0"/>
              <a:t>08-01-2025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97CF90-C278-E11A-1529-061A652CA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003E4D-2724-31FE-6607-1C9252837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16D61-440C-4AEA-B044-7DD2EE41E1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713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5E003-BDD4-8E86-9C6A-5A7C61F61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3DA2A-7605-E6AD-1760-CA1F102D9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6CAC86-4796-12CD-0AB8-C5942825F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4EFA9B-617B-0083-4CE1-0BF44B6C3A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8A3416-4A8E-4007-5C43-A1F7D03408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6126A-0210-0F82-6D21-F76AA0BDF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D3D5-3347-4AC7-9D53-D1F7D93AC8E9}" type="datetimeFigureOut">
              <a:rPr lang="en-IN" smtClean="0"/>
              <a:t>08-01-2025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573D13-9553-E8EA-9433-15A183298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D410CC-5477-CA9B-B030-71F6E1C61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16D61-440C-4AEA-B044-7DD2EE41E1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826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8300F-5F6F-18BF-1F9E-24BAFD63C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922103-968E-E92E-7760-2CFB75D56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D3D5-3347-4AC7-9D53-D1F7D93AC8E9}" type="datetimeFigureOut">
              <a:rPr lang="en-IN" smtClean="0"/>
              <a:t>08-01-2025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F168DE-87CF-C5F8-B56B-8AA28C0CD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9BC57D-D8FA-0FFE-CA6D-E85FCE54F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16D61-440C-4AEA-B044-7DD2EE41E1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299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2945CE-15A7-7387-217E-FFDBF9BF8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D3D5-3347-4AC7-9D53-D1F7D93AC8E9}" type="datetimeFigureOut">
              <a:rPr lang="en-IN" smtClean="0"/>
              <a:t>08-01-2025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0F434E-68A4-4775-DD64-E937F1E6A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D8F94-7614-A5E9-9C38-726C3456C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16D61-440C-4AEA-B044-7DD2EE41E1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803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5FC52-A85D-219E-C0E4-B1C6ABC61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807F4-1337-978C-A9D6-20ADE079D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139F47-8525-8B10-BA70-EF0C81016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33FAF1-F086-9624-2DB5-DCF306911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D3D5-3347-4AC7-9D53-D1F7D93AC8E9}" type="datetimeFigureOut">
              <a:rPr lang="en-IN" smtClean="0"/>
              <a:t>08-01-2025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5C457-33C4-853E-E6FA-78B4DEEAB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266E2D-ABFE-260E-ADE5-25E69C34F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16D61-440C-4AEA-B044-7DD2EE41E1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041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5717B-EEC4-967D-9074-AFE83999F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43F51B-B077-E19F-F5CC-FAA1304B5B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D70B6F-97D7-A9EF-CC63-A4C9D2D5F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A29BD8-CD23-2FB0-FCDB-F4E7FA0F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D3D5-3347-4AC7-9D53-D1F7D93AC8E9}" type="datetimeFigureOut">
              <a:rPr lang="en-IN" smtClean="0"/>
              <a:t>08-01-2025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D92D6A-C886-A65D-615A-585137E05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C1F24-7901-C988-FA29-67FD93E9A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16D61-440C-4AEA-B044-7DD2EE41E1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038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BA61C-0A5C-163F-577B-C2412D9BC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364001-51C5-34BF-DBB0-59774828AE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04A60-580A-0942-EDCF-0E27448EE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D3D5-3347-4AC7-9D53-D1F7D93AC8E9}" type="datetimeFigureOut">
              <a:rPr lang="en-IN" smtClean="0"/>
              <a:t>08-01-2025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E9C4A-0CD5-69B9-50B0-D07AE1E7C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F1F9D-F50B-BC60-A35C-56A69D59B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16D61-440C-4AEA-B044-7DD2EE41E1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05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85A46A-6CCE-C609-F4ED-D1475970F7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487B81-156A-55E4-28D9-62B478AE2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D45E3-8F69-9332-8E36-1DFA2AAB5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D3D5-3347-4AC7-9D53-D1F7D93AC8E9}" type="datetimeFigureOut">
              <a:rPr lang="en-IN" smtClean="0"/>
              <a:t>08-01-2025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38099-B05A-0326-4225-B83672234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28D4C-A459-6DC5-CC27-92ADD6942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16D61-440C-4AEA-B044-7DD2EE41E1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8319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DFA32F-1E91-3DAF-5D07-C294A257C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B66FD9-089D-C40B-B8F3-A628549DF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2B5DB-7E27-4667-8F5F-F2821E4BAB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8D3D5-3347-4AC7-9D53-D1F7D93AC8E9}" type="datetimeFigureOut">
              <a:rPr lang="en-IN" smtClean="0"/>
              <a:t>08-01-2025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91FF6-2EB4-79D7-1C6B-EAAE998795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6A8FE-4F69-D380-2135-86647F2071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16D61-440C-4AEA-B044-7DD2EE41E1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667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b102385d-06cf-4a43-8f75-82a98ce35d6d/reports/e71fd0ad-a0ad-4a60-86d9-186a0e3c291c?ctid=b882916c-be1f-4ca0-a3d6-615b0a83ea79&amp;pbi_source=linkShare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kaggle.com/datasets/gauthamvijayaraj/spotify-tracks-dataset-updated-every-wee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4E9938-F1A9-8890-0D0C-A26CDE739173}"/>
              </a:ext>
            </a:extLst>
          </p:cNvPr>
          <p:cNvSpPr txBox="1"/>
          <p:nvPr/>
        </p:nvSpPr>
        <p:spPr>
          <a:xfrm>
            <a:off x="8967020" y="6135330"/>
            <a:ext cx="3539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Presented by: Saloni Shahi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Submitted to: Alok </a:t>
            </a:r>
            <a:r>
              <a:rPr lang="en-US" dirty="0" err="1">
                <a:solidFill>
                  <a:schemeClr val="bg1"/>
                </a:solidFill>
              </a:rPr>
              <a:t>Shivhare</a:t>
            </a:r>
            <a:r>
              <a:rPr lang="en-US" dirty="0">
                <a:solidFill>
                  <a:schemeClr val="bg1"/>
                </a:solidFill>
              </a:rPr>
              <a:t> Sir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242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0000"/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4AE154-CBC9-A0AC-F357-E66130591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406581C5-856C-6810-9600-D4D48D9A50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882" y="1844953"/>
            <a:ext cx="3103262" cy="3103262"/>
          </a:xfrm>
          <a:prstGeom prst="flowChartConnector">
            <a:avLst/>
          </a:prstGeom>
          <a:blipFill>
            <a:blip r:embed="rId3">
              <a:alphaModFix amt="97000"/>
            </a:blip>
            <a:stretch>
              <a:fillRect/>
            </a:stretch>
          </a:blip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08EC4E2-D663-5B76-CD3B-9EFC32326419}"/>
              </a:ext>
            </a:extLst>
          </p:cNvPr>
          <p:cNvGrpSpPr/>
          <p:nvPr/>
        </p:nvGrpSpPr>
        <p:grpSpPr>
          <a:xfrm>
            <a:off x="2286513" y="223725"/>
            <a:ext cx="6445030" cy="535258"/>
            <a:chOff x="5330283" y="2007220"/>
            <a:chExt cx="5194718" cy="535258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BACA974-0EB0-BE54-BA48-3AF3D1290F94}"/>
                </a:ext>
              </a:extLst>
            </p:cNvPr>
            <p:cNvSpPr/>
            <p:nvPr/>
          </p:nvSpPr>
          <p:spPr>
            <a:xfrm>
              <a:off x="5330283" y="2007220"/>
              <a:ext cx="546410" cy="535258"/>
            </a:xfrm>
            <a:prstGeom prst="ellipse">
              <a:avLst/>
            </a:prstGeom>
            <a:gradFill>
              <a:gsLst>
                <a:gs pos="0">
                  <a:srgbClr val="1AB82A"/>
                </a:gs>
                <a:gs pos="0">
                  <a:srgbClr val="F8F744"/>
                </a:gs>
                <a:gs pos="0">
                  <a:srgbClr val="F8F744"/>
                </a:gs>
                <a:gs pos="54000">
                  <a:srgbClr val="1AB82A"/>
                </a:gs>
                <a:gs pos="85000">
                  <a:srgbClr val="127C1F"/>
                </a:gs>
                <a:gs pos="0">
                  <a:srgbClr val="FEFEFE"/>
                </a:gs>
              </a:gsLst>
              <a:lin ang="10800000" scaled="1"/>
            </a:gradFill>
            <a:ln>
              <a:solidFill>
                <a:srgbClr val="16962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1</a:t>
              </a:r>
              <a:endParaRPr lang="en-IN" sz="3600" b="1" dirty="0">
                <a:solidFill>
                  <a:schemeClr val="tx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8" name="Arrow: Chevron 7">
              <a:extLst>
                <a:ext uri="{FF2B5EF4-FFF2-40B4-BE49-F238E27FC236}">
                  <a16:creationId xmlns:a16="http://schemas.microsoft.com/office/drawing/2014/main" id="{2C25612C-9033-D4A3-62EB-7F1B834E3CAA}"/>
                </a:ext>
              </a:extLst>
            </p:cNvPr>
            <p:cNvSpPr/>
            <p:nvPr/>
          </p:nvSpPr>
          <p:spPr>
            <a:xfrm>
              <a:off x="5876693" y="2007220"/>
              <a:ext cx="4648308" cy="535258"/>
            </a:xfrm>
            <a:prstGeom prst="chevron">
              <a:avLst>
                <a:gd name="adj" fmla="val 54167"/>
              </a:avLst>
            </a:prstGeom>
            <a:gradFill>
              <a:gsLst>
                <a:gs pos="68000">
                  <a:srgbClr val="1AB82A"/>
                </a:gs>
                <a:gs pos="0">
                  <a:srgbClr val="1AB82A"/>
                </a:gs>
                <a:gs pos="0">
                  <a:srgbClr val="F8F744"/>
                </a:gs>
                <a:gs pos="0">
                  <a:srgbClr val="F8F744"/>
                </a:gs>
                <a:gs pos="36000">
                  <a:srgbClr val="1AB82A"/>
                </a:gs>
                <a:gs pos="0">
                  <a:srgbClr val="127C1F"/>
                </a:gs>
                <a:gs pos="100000">
                  <a:srgbClr val="FEFEFE"/>
                </a:gs>
              </a:gsLst>
              <a:lin ang="10800000" scaled="1"/>
            </a:gradFill>
            <a:ln>
              <a:solidFill>
                <a:srgbClr val="16962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3600" b="1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Introduction to Spotify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E567B5D-A775-FF64-767F-A2C61BF762D2}"/>
              </a:ext>
            </a:extLst>
          </p:cNvPr>
          <p:cNvGrpSpPr/>
          <p:nvPr/>
        </p:nvGrpSpPr>
        <p:grpSpPr>
          <a:xfrm>
            <a:off x="3836769" y="2137762"/>
            <a:ext cx="7448713" cy="535258"/>
            <a:chOff x="5390812" y="2601707"/>
            <a:chExt cx="4713557" cy="535258"/>
          </a:xfrm>
        </p:grpSpPr>
        <p:sp>
          <p:nvSpPr>
            <p:cNvPr id="9" name="Arrow: Chevron 8">
              <a:extLst>
                <a:ext uri="{FF2B5EF4-FFF2-40B4-BE49-F238E27FC236}">
                  <a16:creationId xmlns:a16="http://schemas.microsoft.com/office/drawing/2014/main" id="{8052358F-D517-4A1F-500E-632AFF664FB1}"/>
                </a:ext>
              </a:extLst>
            </p:cNvPr>
            <p:cNvSpPr/>
            <p:nvPr/>
          </p:nvSpPr>
          <p:spPr>
            <a:xfrm>
              <a:off x="5799999" y="2601707"/>
              <a:ext cx="4304370" cy="535258"/>
            </a:xfrm>
            <a:prstGeom prst="chevron">
              <a:avLst>
                <a:gd name="adj" fmla="val 54167"/>
              </a:avLst>
            </a:prstGeom>
            <a:gradFill>
              <a:gsLst>
                <a:gs pos="68000">
                  <a:srgbClr val="1AB82A"/>
                </a:gs>
                <a:gs pos="0">
                  <a:srgbClr val="1AB82A"/>
                </a:gs>
                <a:gs pos="0">
                  <a:srgbClr val="F8F744"/>
                </a:gs>
                <a:gs pos="0">
                  <a:srgbClr val="F8F744"/>
                </a:gs>
                <a:gs pos="36000">
                  <a:srgbClr val="1AB82A"/>
                </a:gs>
                <a:gs pos="0">
                  <a:srgbClr val="127C1F"/>
                </a:gs>
                <a:gs pos="100000">
                  <a:srgbClr val="FEFEFE"/>
                </a:gs>
              </a:gsLst>
              <a:lin ang="10800000" scaled="1"/>
            </a:gradFill>
            <a:ln>
              <a:solidFill>
                <a:srgbClr val="16962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3600" b="1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Overview of the Dataset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8D8D9DA-2DF2-F861-70B0-697F521BEF7A}"/>
                </a:ext>
              </a:extLst>
            </p:cNvPr>
            <p:cNvSpPr/>
            <p:nvPr/>
          </p:nvSpPr>
          <p:spPr>
            <a:xfrm>
              <a:off x="5390812" y="2601707"/>
              <a:ext cx="419594" cy="535258"/>
            </a:xfrm>
            <a:prstGeom prst="ellipse">
              <a:avLst/>
            </a:prstGeom>
            <a:gradFill>
              <a:gsLst>
                <a:gs pos="0">
                  <a:srgbClr val="1AB82A"/>
                </a:gs>
                <a:gs pos="0">
                  <a:srgbClr val="F8F744"/>
                </a:gs>
                <a:gs pos="0">
                  <a:srgbClr val="F8F744"/>
                </a:gs>
                <a:gs pos="54000">
                  <a:srgbClr val="1AB82A"/>
                </a:gs>
                <a:gs pos="85000">
                  <a:srgbClr val="127C1F"/>
                </a:gs>
                <a:gs pos="0">
                  <a:srgbClr val="FEFEFE"/>
                </a:gs>
              </a:gsLst>
              <a:lin ang="10800000" scaled="1"/>
            </a:gradFill>
            <a:ln>
              <a:solidFill>
                <a:srgbClr val="16962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3</a:t>
              </a:r>
              <a:endParaRPr lang="en-IN" sz="3600" b="1" dirty="0">
                <a:solidFill>
                  <a:schemeClr val="tx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E361DC2-8536-A2C6-5106-BAFEF0844693}"/>
              </a:ext>
            </a:extLst>
          </p:cNvPr>
          <p:cNvGrpSpPr/>
          <p:nvPr/>
        </p:nvGrpSpPr>
        <p:grpSpPr>
          <a:xfrm>
            <a:off x="2933141" y="924003"/>
            <a:ext cx="7206954" cy="1059489"/>
            <a:chOff x="5123287" y="2601706"/>
            <a:chExt cx="7206954" cy="1059489"/>
          </a:xfrm>
        </p:grpSpPr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65809987-6AFF-ED8A-598F-0E40ECAE3CC1}"/>
                </a:ext>
              </a:extLst>
            </p:cNvPr>
            <p:cNvSpPr/>
            <p:nvPr/>
          </p:nvSpPr>
          <p:spPr>
            <a:xfrm>
              <a:off x="5799999" y="2601706"/>
              <a:ext cx="6530242" cy="1059489"/>
            </a:xfrm>
            <a:prstGeom prst="chevron">
              <a:avLst>
                <a:gd name="adj" fmla="val 54167"/>
              </a:avLst>
            </a:prstGeom>
            <a:gradFill>
              <a:gsLst>
                <a:gs pos="68000">
                  <a:srgbClr val="1AB82A"/>
                </a:gs>
                <a:gs pos="0">
                  <a:srgbClr val="1AB82A"/>
                </a:gs>
                <a:gs pos="0">
                  <a:srgbClr val="F8F744"/>
                </a:gs>
                <a:gs pos="0">
                  <a:srgbClr val="F8F744"/>
                </a:gs>
                <a:gs pos="36000">
                  <a:srgbClr val="1AB82A"/>
                </a:gs>
                <a:gs pos="0">
                  <a:srgbClr val="127C1F"/>
                </a:gs>
                <a:gs pos="100000">
                  <a:srgbClr val="FEFEFE"/>
                </a:gs>
              </a:gsLst>
              <a:lin ang="10800000" scaled="1"/>
            </a:gradFill>
            <a:ln>
              <a:solidFill>
                <a:srgbClr val="16962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    Mission &amp; Vision of the Dashboard</a:t>
              </a:r>
              <a:endParaRPr lang="en-IN" sz="3600" b="1" dirty="0">
                <a:solidFill>
                  <a:schemeClr val="tx1"/>
                </a:solidFill>
                <a:latin typeface="Gill Sans MT" panose="020B0502020104020203" pitchFamily="34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A2F7736-A02E-A41B-B531-3B2F4FAC8C3C}"/>
                </a:ext>
              </a:extLst>
            </p:cNvPr>
            <p:cNvSpPr/>
            <p:nvPr/>
          </p:nvSpPr>
          <p:spPr>
            <a:xfrm>
              <a:off x="5123287" y="2683157"/>
              <a:ext cx="939520" cy="899651"/>
            </a:xfrm>
            <a:prstGeom prst="ellipse">
              <a:avLst/>
            </a:prstGeom>
            <a:gradFill>
              <a:gsLst>
                <a:gs pos="0">
                  <a:srgbClr val="1AB82A"/>
                </a:gs>
                <a:gs pos="0">
                  <a:srgbClr val="F8F744"/>
                </a:gs>
                <a:gs pos="0">
                  <a:srgbClr val="F8F744"/>
                </a:gs>
                <a:gs pos="54000">
                  <a:srgbClr val="1AB82A"/>
                </a:gs>
                <a:gs pos="85000">
                  <a:srgbClr val="127C1F"/>
                </a:gs>
                <a:gs pos="0">
                  <a:srgbClr val="FEFEFE"/>
                </a:gs>
              </a:gsLst>
              <a:lin ang="10800000" scaled="1"/>
            </a:gradFill>
            <a:ln>
              <a:solidFill>
                <a:srgbClr val="16962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2</a:t>
              </a:r>
              <a:endParaRPr lang="en-IN" sz="3600" b="1" dirty="0">
                <a:solidFill>
                  <a:schemeClr val="tx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85EA21A-2AE3-3199-9C39-87C1B66DB85B}"/>
              </a:ext>
            </a:extLst>
          </p:cNvPr>
          <p:cNvGrpSpPr/>
          <p:nvPr/>
        </p:nvGrpSpPr>
        <p:grpSpPr>
          <a:xfrm>
            <a:off x="3844862" y="3509589"/>
            <a:ext cx="7612256" cy="1059489"/>
            <a:chOff x="5294689" y="2601707"/>
            <a:chExt cx="4809680" cy="535258"/>
          </a:xfrm>
        </p:grpSpPr>
        <p:sp>
          <p:nvSpPr>
            <p:cNvPr id="18" name="Arrow: Chevron 17">
              <a:extLst>
                <a:ext uri="{FF2B5EF4-FFF2-40B4-BE49-F238E27FC236}">
                  <a16:creationId xmlns:a16="http://schemas.microsoft.com/office/drawing/2014/main" id="{3928AB7D-F05C-80DD-F4B8-582ABF116123}"/>
                </a:ext>
              </a:extLst>
            </p:cNvPr>
            <p:cNvSpPr/>
            <p:nvPr/>
          </p:nvSpPr>
          <p:spPr>
            <a:xfrm>
              <a:off x="5799999" y="2601707"/>
              <a:ext cx="4304370" cy="535258"/>
            </a:xfrm>
            <a:prstGeom prst="chevron">
              <a:avLst>
                <a:gd name="adj" fmla="val 54167"/>
              </a:avLst>
            </a:prstGeom>
            <a:gradFill>
              <a:gsLst>
                <a:gs pos="68000">
                  <a:srgbClr val="1AB82A"/>
                </a:gs>
                <a:gs pos="0">
                  <a:srgbClr val="1AB82A"/>
                </a:gs>
                <a:gs pos="0">
                  <a:srgbClr val="F8F744"/>
                </a:gs>
                <a:gs pos="0">
                  <a:srgbClr val="F8F744"/>
                </a:gs>
                <a:gs pos="36000">
                  <a:srgbClr val="1AB82A"/>
                </a:gs>
                <a:gs pos="0">
                  <a:srgbClr val="127C1F"/>
                </a:gs>
                <a:gs pos="100000">
                  <a:srgbClr val="FEFEFE"/>
                </a:gs>
              </a:gsLst>
              <a:lin ang="10800000" scaled="1"/>
            </a:gradFill>
            <a:ln>
              <a:solidFill>
                <a:srgbClr val="16962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Key Insights from the Dashboard</a:t>
              </a:r>
              <a:endParaRPr lang="en-IN" sz="3600" b="1" dirty="0">
                <a:solidFill>
                  <a:schemeClr val="tx1"/>
                </a:solidFill>
                <a:latin typeface="Gill Sans MT" panose="020B0502020104020203" pitchFamily="34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5648D96-5240-3E3C-3A8A-497AF3E3EACE}"/>
                </a:ext>
              </a:extLst>
            </p:cNvPr>
            <p:cNvSpPr/>
            <p:nvPr/>
          </p:nvSpPr>
          <p:spPr>
            <a:xfrm>
              <a:off x="5294689" y="2642082"/>
              <a:ext cx="709572" cy="454507"/>
            </a:xfrm>
            <a:prstGeom prst="ellipse">
              <a:avLst/>
            </a:prstGeom>
            <a:gradFill>
              <a:gsLst>
                <a:gs pos="0">
                  <a:srgbClr val="1AB82A"/>
                </a:gs>
                <a:gs pos="0">
                  <a:srgbClr val="F8F744"/>
                </a:gs>
                <a:gs pos="0">
                  <a:srgbClr val="F8F744"/>
                </a:gs>
                <a:gs pos="54000">
                  <a:srgbClr val="1AB82A"/>
                </a:gs>
                <a:gs pos="85000">
                  <a:srgbClr val="127C1F"/>
                </a:gs>
                <a:gs pos="0">
                  <a:srgbClr val="FEFEFE"/>
                </a:gs>
              </a:gsLst>
              <a:lin ang="10800000" scaled="1"/>
            </a:gradFill>
            <a:ln>
              <a:solidFill>
                <a:srgbClr val="16962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5</a:t>
              </a:r>
              <a:endParaRPr lang="en-IN" sz="3600" b="1" dirty="0">
                <a:solidFill>
                  <a:schemeClr val="tx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E4A3D11-17E0-21D1-74D3-F07DBE9BEE42}"/>
              </a:ext>
            </a:extLst>
          </p:cNvPr>
          <p:cNvGrpSpPr/>
          <p:nvPr/>
        </p:nvGrpSpPr>
        <p:grpSpPr>
          <a:xfrm>
            <a:off x="2964438" y="4766481"/>
            <a:ext cx="6374032" cy="1198880"/>
            <a:chOff x="5412289" y="2606205"/>
            <a:chExt cx="4704900" cy="530760"/>
          </a:xfrm>
        </p:grpSpPr>
        <p:sp>
          <p:nvSpPr>
            <p:cNvPr id="30" name="Arrow: Chevron 29">
              <a:extLst>
                <a:ext uri="{FF2B5EF4-FFF2-40B4-BE49-F238E27FC236}">
                  <a16:creationId xmlns:a16="http://schemas.microsoft.com/office/drawing/2014/main" id="{BCE2D86E-12A7-7AE4-141B-AEB55D4F72ED}"/>
                </a:ext>
              </a:extLst>
            </p:cNvPr>
            <p:cNvSpPr/>
            <p:nvPr/>
          </p:nvSpPr>
          <p:spPr>
            <a:xfrm>
              <a:off x="5799999" y="2606205"/>
              <a:ext cx="4317190" cy="530760"/>
            </a:xfrm>
            <a:prstGeom prst="chevron">
              <a:avLst>
                <a:gd name="adj" fmla="val 54167"/>
              </a:avLst>
            </a:prstGeom>
            <a:gradFill>
              <a:gsLst>
                <a:gs pos="68000">
                  <a:srgbClr val="1AB82A"/>
                </a:gs>
                <a:gs pos="0">
                  <a:srgbClr val="1AB82A"/>
                </a:gs>
                <a:gs pos="0">
                  <a:srgbClr val="F8F744"/>
                </a:gs>
                <a:gs pos="0">
                  <a:srgbClr val="F8F744"/>
                </a:gs>
                <a:gs pos="36000">
                  <a:srgbClr val="1AB82A"/>
                </a:gs>
                <a:gs pos="0">
                  <a:srgbClr val="127C1F"/>
                </a:gs>
                <a:gs pos="100000">
                  <a:srgbClr val="FEFEFE"/>
                </a:gs>
              </a:gsLst>
              <a:lin ang="10800000" scaled="1"/>
            </a:gradFill>
            <a:ln>
              <a:solidFill>
                <a:srgbClr val="16962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    </a:t>
              </a:r>
              <a:r>
                <a:rPr lang="en-IN" sz="3600" b="1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Suggestions for Spotify’s Growth</a:t>
              </a:r>
              <a:endParaRPr lang="en-IN" sz="3600" dirty="0">
                <a:solidFill>
                  <a:schemeClr val="tx1"/>
                </a:solidFill>
                <a:latin typeface="Gill Sans MT" panose="020B0502020104020203" pitchFamily="34" charset="0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CA805C75-C547-9FCC-E7A2-A05466B3AAB0}"/>
                </a:ext>
              </a:extLst>
            </p:cNvPr>
            <p:cNvSpPr/>
            <p:nvPr/>
          </p:nvSpPr>
          <p:spPr>
            <a:xfrm>
              <a:off x="5412289" y="2680430"/>
              <a:ext cx="673220" cy="377812"/>
            </a:xfrm>
            <a:prstGeom prst="ellipse">
              <a:avLst/>
            </a:prstGeom>
            <a:gradFill>
              <a:gsLst>
                <a:gs pos="0">
                  <a:srgbClr val="1AB82A"/>
                </a:gs>
                <a:gs pos="0">
                  <a:srgbClr val="F8F744"/>
                </a:gs>
                <a:gs pos="0">
                  <a:srgbClr val="F8F744"/>
                </a:gs>
                <a:gs pos="54000">
                  <a:srgbClr val="1AB82A"/>
                </a:gs>
                <a:gs pos="85000">
                  <a:srgbClr val="127C1F"/>
                </a:gs>
                <a:gs pos="0">
                  <a:srgbClr val="FEFEFE"/>
                </a:gs>
              </a:gsLst>
              <a:lin ang="10800000" scaled="1"/>
            </a:gradFill>
            <a:ln>
              <a:solidFill>
                <a:srgbClr val="16962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6</a:t>
              </a:r>
              <a:endParaRPr lang="en-IN" sz="3600" b="1" dirty="0">
                <a:solidFill>
                  <a:schemeClr val="tx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33D48D2-6FF7-9D6D-F63A-48DC9C104F9F}"/>
              </a:ext>
            </a:extLst>
          </p:cNvPr>
          <p:cNvGrpSpPr/>
          <p:nvPr/>
        </p:nvGrpSpPr>
        <p:grpSpPr>
          <a:xfrm>
            <a:off x="2162647" y="6134235"/>
            <a:ext cx="3933353" cy="535258"/>
            <a:chOff x="5390812" y="2601707"/>
            <a:chExt cx="2489032" cy="535258"/>
          </a:xfrm>
        </p:grpSpPr>
        <p:sp>
          <p:nvSpPr>
            <p:cNvPr id="34" name="Arrow: Chevron 33">
              <a:extLst>
                <a:ext uri="{FF2B5EF4-FFF2-40B4-BE49-F238E27FC236}">
                  <a16:creationId xmlns:a16="http://schemas.microsoft.com/office/drawing/2014/main" id="{4986F00E-2111-5317-D71F-67783D10901E}"/>
                </a:ext>
              </a:extLst>
            </p:cNvPr>
            <p:cNvSpPr/>
            <p:nvPr/>
          </p:nvSpPr>
          <p:spPr>
            <a:xfrm>
              <a:off x="5799999" y="2601707"/>
              <a:ext cx="2079845" cy="535258"/>
            </a:xfrm>
            <a:prstGeom prst="chevron">
              <a:avLst>
                <a:gd name="adj" fmla="val 54167"/>
              </a:avLst>
            </a:prstGeom>
            <a:gradFill>
              <a:gsLst>
                <a:gs pos="68000">
                  <a:srgbClr val="1AB82A"/>
                </a:gs>
                <a:gs pos="0">
                  <a:srgbClr val="1AB82A"/>
                </a:gs>
                <a:gs pos="0">
                  <a:srgbClr val="F8F744"/>
                </a:gs>
                <a:gs pos="0">
                  <a:srgbClr val="F8F744"/>
                </a:gs>
                <a:gs pos="36000">
                  <a:srgbClr val="1AB82A"/>
                </a:gs>
                <a:gs pos="0">
                  <a:srgbClr val="127C1F"/>
                </a:gs>
                <a:gs pos="100000">
                  <a:srgbClr val="FEFEFE"/>
                </a:gs>
              </a:gsLst>
              <a:lin ang="10800000" scaled="1"/>
            </a:gradFill>
            <a:ln>
              <a:solidFill>
                <a:srgbClr val="16962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3600" b="1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Reference 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FD217A0-6FF0-C8CC-687B-2A13EED0059B}"/>
                </a:ext>
              </a:extLst>
            </p:cNvPr>
            <p:cNvSpPr/>
            <p:nvPr/>
          </p:nvSpPr>
          <p:spPr>
            <a:xfrm>
              <a:off x="5390812" y="2601707"/>
              <a:ext cx="419594" cy="535258"/>
            </a:xfrm>
            <a:prstGeom prst="ellipse">
              <a:avLst/>
            </a:prstGeom>
            <a:gradFill>
              <a:gsLst>
                <a:gs pos="0">
                  <a:srgbClr val="1AB82A"/>
                </a:gs>
                <a:gs pos="0">
                  <a:srgbClr val="F8F744"/>
                </a:gs>
                <a:gs pos="0">
                  <a:srgbClr val="F8F744"/>
                </a:gs>
                <a:gs pos="54000">
                  <a:srgbClr val="1AB82A"/>
                </a:gs>
                <a:gs pos="85000">
                  <a:srgbClr val="127C1F"/>
                </a:gs>
                <a:gs pos="0">
                  <a:srgbClr val="FEFEFE"/>
                </a:gs>
              </a:gsLst>
              <a:lin ang="10800000" scaled="1"/>
            </a:gradFill>
            <a:ln>
              <a:solidFill>
                <a:srgbClr val="16962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7</a:t>
              </a:r>
              <a:endParaRPr lang="en-IN" sz="3600" b="1" dirty="0">
                <a:solidFill>
                  <a:schemeClr val="tx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71A0505-76A2-0D5F-CCC5-B8A14683A1C6}"/>
              </a:ext>
            </a:extLst>
          </p:cNvPr>
          <p:cNvGrpSpPr/>
          <p:nvPr/>
        </p:nvGrpSpPr>
        <p:grpSpPr>
          <a:xfrm>
            <a:off x="4160082" y="2835830"/>
            <a:ext cx="7776279" cy="535258"/>
            <a:chOff x="5390812" y="2601707"/>
            <a:chExt cx="4713557" cy="535258"/>
          </a:xfrm>
        </p:grpSpPr>
        <p:sp>
          <p:nvSpPr>
            <p:cNvPr id="37" name="Arrow: Chevron 36">
              <a:extLst>
                <a:ext uri="{FF2B5EF4-FFF2-40B4-BE49-F238E27FC236}">
                  <a16:creationId xmlns:a16="http://schemas.microsoft.com/office/drawing/2014/main" id="{19455425-AE45-3161-0AB8-6C87F4BB5DDC}"/>
                </a:ext>
              </a:extLst>
            </p:cNvPr>
            <p:cNvSpPr/>
            <p:nvPr/>
          </p:nvSpPr>
          <p:spPr>
            <a:xfrm>
              <a:off x="5799999" y="2601707"/>
              <a:ext cx="4304370" cy="535258"/>
            </a:xfrm>
            <a:prstGeom prst="chevron">
              <a:avLst>
                <a:gd name="adj" fmla="val 54167"/>
              </a:avLst>
            </a:prstGeom>
            <a:gradFill>
              <a:gsLst>
                <a:gs pos="68000">
                  <a:srgbClr val="1AB82A"/>
                </a:gs>
                <a:gs pos="0">
                  <a:srgbClr val="1AB82A"/>
                </a:gs>
                <a:gs pos="0">
                  <a:srgbClr val="F8F744"/>
                </a:gs>
                <a:gs pos="0">
                  <a:srgbClr val="F8F744"/>
                </a:gs>
                <a:gs pos="36000">
                  <a:srgbClr val="1AB82A"/>
                </a:gs>
                <a:gs pos="0">
                  <a:srgbClr val="127C1F"/>
                </a:gs>
                <a:gs pos="100000">
                  <a:srgbClr val="FEFEFE"/>
                </a:gs>
              </a:gsLst>
              <a:lin ang="10800000" scaled="1"/>
            </a:gradFill>
            <a:ln>
              <a:solidFill>
                <a:srgbClr val="16962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3600" b="1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Overview of the Dashboard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7C872EF-02BA-B04D-3138-870D575E5CDE}"/>
                </a:ext>
              </a:extLst>
            </p:cNvPr>
            <p:cNvSpPr/>
            <p:nvPr/>
          </p:nvSpPr>
          <p:spPr>
            <a:xfrm>
              <a:off x="5390812" y="2601707"/>
              <a:ext cx="419594" cy="535258"/>
            </a:xfrm>
            <a:prstGeom prst="ellipse">
              <a:avLst/>
            </a:prstGeom>
            <a:gradFill>
              <a:gsLst>
                <a:gs pos="0">
                  <a:srgbClr val="1AB82A"/>
                </a:gs>
                <a:gs pos="0">
                  <a:srgbClr val="F8F744"/>
                </a:gs>
                <a:gs pos="0">
                  <a:srgbClr val="F8F744"/>
                </a:gs>
                <a:gs pos="54000">
                  <a:srgbClr val="1AB82A"/>
                </a:gs>
                <a:gs pos="85000">
                  <a:srgbClr val="127C1F"/>
                </a:gs>
                <a:gs pos="0">
                  <a:srgbClr val="FEFEFE"/>
                </a:gs>
              </a:gsLst>
              <a:lin ang="10800000" scaled="1"/>
            </a:gradFill>
            <a:ln>
              <a:solidFill>
                <a:srgbClr val="16962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4</a:t>
              </a:r>
              <a:endParaRPr lang="en-IN" sz="3600" b="1" dirty="0">
                <a:solidFill>
                  <a:schemeClr val="tx1"/>
                </a:solidFill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3263652"/>
      </p:ext>
    </p:extLst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7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F43A3F48-74C6-C39D-E804-DD86F7E214AA}"/>
              </a:ext>
            </a:extLst>
          </p:cNvPr>
          <p:cNvGrpSpPr/>
          <p:nvPr/>
        </p:nvGrpSpPr>
        <p:grpSpPr>
          <a:xfrm>
            <a:off x="4065967" y="167699"/>
            <a:ext cx="6720020" cy="881996"/>
            <a:chOff x="335280" y="650299"/>
            <a:chExt cx="6654801" cy="772160"/>
          </a:xfrm>
        </p:grpSpPr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232A72BA-C403-BDD6-258C-437FF41A7C09}"/>
                </a:ext>
              </a:extLst>
            </p:cNvPr>
            <p:cNvSpPr/>
            <p:nvPr/>
          </p:nvSpPr>
          <p:spPr>
            <a:xfrm>
              <a:off x="335280" y="706179"/>
              <a:ext cx="690880" cy="660400"/>
            </a:xfrm>
            <a:prstGeom prst="flowChartConnector">
              <a:avLst/>
            </a:prstGeom>
            <a:solidFill>
              <a:srgbClr val="169625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b="1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8" name="Arrow: Chevron 7">
              <a:extLst>
                <a:ext uri="{FF2B5EF4-FFF2-40B4-BE49-F238E27FC236}">
                  <a16:creationId xmlns:a16="http://schemas.microsoft.com/office/drawing/2014/main" id="{73A3F405-4B87-2499-A122-6650ADEFD73A}"/>
                </a:ext>
              </a:extLst>
            </p:cNvPr>
            <p:cNvSpPr/>
            <p:nvPr/>
          </p:nvSpPr>
          <p:spPr>
            <a:xfrm>
              <a:off x="837053" y="650299"/>
              <a:ext cx="6153028" cy="772160"/>
            </a:xfrm>
            <a:prstGeom prst="chevron">
              <a:avLst/>
            </a:prstGeom>
            <a:solidFill>
              <a:srgbClr val="169625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0" lang="en-US" altLang="en-US" sz="18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anose="020F0704030504030204" pitchFamily="34" charset="0"/>
                </a:rPr>
                <a:t>Spotify</a:t>
              </a:r>
              <a:r>
                <a: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anose="020F0704030504030204" pitchFamily="34" charset="0"/>
                </a:rPr>
                <a:t> is one of the world's largest music streaming platforms, launched </a:t>
              </a:r>
              <a:r>
                <a:rPr lang="en-US" altLang="en-US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on 23 April, 2006</a:t>
              </a:r>
              <a:r>
                <a: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anose="020F0704030504030204" pitchFamily="34" charset="0"/>
                </a:rPr>
                <a:t>.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400FAA7-070A-4191-7DA7-2EF6B4D8D3C1}"/>
              </a:ext>
            </a:extLst>
          </p:cNvPr>
          <p:cNvGrpSpPr/>
          <p:nvPr/>
        </p:nvGrpSpPr>
        <p:grpSpPr>
          <a:xfrm>
            <a:off x="373480" y="4477345"/>
            <a:ext cx="4648458" cy="1330960"/>
            <a:chOff x="-71110" y="650299"/>
            <a:chExt cx="7061191" cy="772160"/>
          </a:xfrm>
        </p:grpSpPr>
        <p:sp>
          <p:nvSpPr>
            <p:cNvPr id="13" name="Flowchart: Connector 12">
              <a:extLst>
                <a:ext uri="{FF2B5EF4-FFF2-40B4-BE49-F238E27FC236}">
                  <a16:creationId xmlns:a16="http://schemas.microsoft.com/office/drawing/2014/main" id="{69E860E6-DC17-C84E-2886-5E3D34CD74CF}"/>
                </a:ext>
              </a:extLst>
            </p:cNvPr>
            <p:cNvSpPr/>
            <p:nvPr/>
          </p:nvSpPr>
          <p:spPr>
            <a:xfrm>
              <a:off x="-71110" y="742367"/>
              <a:ext cx="1489512" cy="595890"/>
            </a:xfrm>
            <a:prstGeom prst="flowChartConnector">
              <a:avLst/>
            </a:prstGeom>
            <a:solidFill>
              <a:srgbClr val="169625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b="1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4" name="Arrow: Chevron 13">
              <a:extLst>
                <a:ext uri="{FF2B5EF4-FFF2-40B4-BE49-F238E27FC236}">
                  <a16:creationId xmlns:a16="http://schemas.microsoft.com/office/drawing/2014/main" id="{708BB2E1-8033-7F18-C70C-DBEEAD209548}"/>
                </a:ext>
              </a:extLst>
            </p:cNvPr>
            <p:cNvSpPr/>
            <p:nvPr/>
          </p:nvSpPr>
          <p:spPr>
            <a:xfrm>
              <a:off x="837053" y="650299"/>
              <a:ext cx="6153028" cy="772160"/>
            </a:xfrm>
            <a:prstGeom prst="chevron">
              <a:avLst/>
            </a:prstGeom>
            <a:solidFill>
              <a:srgbClr val="169625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anose="020F0704030504030204" pitchFamily="34" charset="0"/>
                </a:rPr>
                <a:t>Provides personalized listening experiences using AI-driven recommendations.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81B663A-D475-5F71-ABD7-16C4F4D02AE9}"/>
              </a:ext>
            </a:extLst>
          </p:cNvPr>
          <p:cNvGrpSpPr/>
          <p:nvPr/>
        </p:nvGrpSpPr>
        <p:grpSpPr>
          <a:xfrm>
            <a:off x="1240339" y="1375156"/>
            <a:ext cx="6654801" cy="772160"/>
            <a:chOff x="335280" y="650299"/>
            <a:chExt cx="6654801" cy="772160"/>
          </a:xfrm>
        </p:grpSpPr>
        <p:sp>
          <p:nvSpPr>
            <p:cNvPr id="16" name="Flowchart: Connector 15">
              <a:extLst>
                <a:ext uri="{FF2B5EF4-FFF2-40B4-BE49-F238E27FC236}">
                  <a16:creationId xmlns:a16="http://schemas.microsoft.com/office/drawing/2014/main" id="{035B5A7D-0E27-71DB-0820-8F739837361D}"/>
                </a:ext>
              </a:extLst>
            </p:cNvPr>
            <p:cNvSpPr/>
            <p:nvPr/>
          </p:nvSpPr>
          <p:spPr>
            <a:xfrm>
              <a:off x="335280" y="706179"/>
              <a:ext cx="690880" cy="660400"/>
            </a:xfrm>
            <a:prstGeom prst="flowChartConnector">
              <a:avLst/>
            </a:prstGeom>
            <a:solidFill>
              <a:srgbClr val="169625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b="1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7" name="Arrow: Chevron 16">
              <a:extLst>
                <a:ext uri="{FF2B5EF4-FFF2-40B4-BE49-F238E27FC236}">
                  <a16:creationId xmlns:a16="http://schemas.microsoft.com/office/drawing/2014/main" id="{402EA52E-EF01-75AB-9ECF-61F76E8F498F}"/>
                </a:ext>
              </a:extLst>
            </p:cNvPr>
            <p:cNvSpPr/>
            <p:nvPr/>
          </p:nvSpPr>
          <p:spPr>
            <a:xfrm>
              <a:off x="837053" y="650299"/>
              <a:ext cx="6153028" cy="772160"/>
            </a:xfrm>
            <a:prstGeom prst="chevron">
              <a:avLst/>
            </a:prstGeom>
            <a:solidFill>
              <a:srgbClr val="169625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anose="020F0704030504030204" pitchFamily="34" charset="0"/>
                </a:rPr>
                <a:t>Offers access to millions of songs, albums, podcasts, and playlists globally.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F4BF9B4-7D1D-E9B9-798C-AD4F356BDB87}"/>
              </a:ext>
            </a:extLst>
          </p:cNvPr>
          <p:cNvGrpSpPr/>
          <p:nvPr/>
        </p:nvGrpSpPr>
        <p:grpSpPr>
          <a:xfrm>
            <a:off x="52767" y="2876536"/>
            <a:ext cx="6302572" cy="815709"/>
            <a:chOff x="205024" y="468195"/>
            <a:chExt cx="6561632" cy="534752"/>
          </a:xfrm>
        </p:grpSpPr>
        <p:sp>
          <p:nvSpPr>
            <p:cNvPr id="19" name="Flowchart: Connector 18">
              <a:extLst>
                <a:ext uri="{FF2B5EF4-FFF2-40B4-BE49-F238E27FC236}">
                  <a16:creationId xmlns:a16="http://schemas.microsoft.com/office/drawing/2014/main" id="{9B630962-E432-7F7D-5B3F-8CCD74854BE6}"/>
                </a:ext>
              </a:extLst>
            </p:cNvPr>
            <p:cNvSpPr/>
            <p:nvPr/>
          </p:nvSpPr>
          <p:spPr>
            <a:xfrm>
              <a:off x="205024" y="557036"/>
              <a:ext cx="667792" cy="380767"/>
            </a:xfrm>
            <a:prstGeom prst="flowChartConnector">
              <a:avLst/>
            </a:prstGeom>
            <a:solidFill>
              <a:srgbClr val="169625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b="1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0" name="Arrow: Chevron 19">
              <a:extLst>
                <a:ext uri="{FF2B5EF4-FFF2-40B4-BE49-F238E27FC236}">
                  <a16:creationId xmlns:a16="http://schemas.microsoft.com/office/drawing/2014/main" id="{20EAA043-6D2C-00BF-D840-C52219487DF2}"/>
                </a:ext>
              </a:extLst>
            </p:cNvPr>
            <p:cNvSpPr/>
            <p:nvPr/>
          </p:nvSpPr>
          <p:spPr>
            <a:xfrm>
              <a:off x="613627" y="468195"/>
              <a:ext cx="6153029" cy="534752"/>
            </a:xfrm>
            <a:prstGeom prst="chevron">
              <a:avLst/>
            </a:prstGeom>
            <a:solidFill>
              <a:srgbClr val="169625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 Rounded MT Bold" panose="020F0704030504030204" pitchFamily="34" charset="0"/>
                </a:rPr>
                <a:t>Serves as a platform for artists to share and monetize their music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1188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BC4C1CE-DA46-6734-7BF1-A2C2932F61FF}"/>
              </a:ext>
            </a:extLst>
          </p:cNvPr>
          <p:cNvGrpSpPr/>
          <p:nvPr/>
        </p:nvGrpSpPr>
        <p:grpSpPr>
          <a:xfrm>
            <a:off x="497840" y="214036"/>
            <a:ext cx="10780608" cy="6400800"/>
            <a:chOff x="497840" y="214036"/>
            <a:chExt cx="10780608" cy="640080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018284A-49EB-07FF-CDA9-1B54E48E8924}"/>
                </a:ext>
              </a:extLst>
            </p:cNvPr>
            <p:cNvGrpSpPr/>
            <p:nvPr/>
          </p:nvGrpSpPr>
          <p:grpSpPr>
            <a:xfrm>
              <a:off x="7675035" y="214036"/>
              <a:ext cx="3603413" cy="6400800"/>
              <a:chOff x="7675035" y="214036"/>
              <a:chExt cx="3603413" cy="6400800"/>
            </a:xfrm>
          </p:grpSpPr>
          <p:pic>
            <p:nvPicPr>
              <p:cNvPr id="1028" name="Picture 4" descr="spotify wallpaper lockscreen aesthetic">
                <a:extLst>
                  <a:ext uri="{FF2B5EF4-FFF2-40B4-BE49-F238E27FC236}">
                    <a16:creationId xmlns:a16="http://schemas.microsoft.com/office/drawing/2014/main" id="{E8A08B37-1D17-FD32-E631-9D55B5F9F9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75035" y="214036"/>
                <a:ext cx="3603413" cy="6400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239EF73-1113-B022-3CC2-4EB384FAF94E}"/>
                  </a:ext>
                </a:extLst>
              </p:cNvPr>
              <p:cNvSpPr txBox="1"/>
              <p:nvPr/>
            </p:nvSpPr>
            <p:spPr>
              <a:xfrm>
                <a:off x="8209280" y="932041"/>
                <a:ext cx="2580640" cy="3139321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b="1">
                    <a:solidFill>
                      <a:schemeClr val="bg1"/>
                    </a:solidFill>
                    <a:latin typeface="Arial Black" panose="020B0A04020102020204" pitchFamily="34" charset="0"/>
                  </a:defRPr>
                </a:lvl1pPr>
              </a:lstStyle>
              <a:p>
                <a:br>
                  <a:rPr lang="en-US" dirty="0"/>
                </a:br>
                <a:r>
                  <a:rPr lang="en-US" dirty="0"/>
                  <a:t>To use data insights to improve Spotify's user experience, help artists grow, and enhance content strategies for global and local audiences.</a:t>
                </a:r>
              </a:p>
              <a:p>
                <a:endParaRPr lang="en-IN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BB1494D-BA55-F00F-A154-BF3F7D5FB1AA}"/>
                </a:ext>
              </a:extLst>
            </p:cNvPr>
            <p:cNvGrpSpPr/>
            <p:nvPr/>
          </p:nvGrpSpPr>
          <p:grpSpPr>
            <a:xfrm>
              <a:off x="497840" y="214036"/>
              <a:ext cx="3603413" cy="6400800"/>
              <a:chOff x="497840" y="214036"/>
              <a:chExt cx="3603413" cy="6400800"/>
            </a:xfrm>
          </p:grpSpPr>
          <p:pic>
            <p:nvPicPr>
              <p:cNvPr id="1026" name="Picture 2" descr="Spotify template free to use">
                <a:extLst>
                  <a:ext uri="{FF2B5EF4-FFF2-40B4-BE49-F238E27FC236}">
                    <a16:creationId xmlns:a16="http://schemas.microsoft.com/office/drawing/2014/main" id="{C690F9A7-66B2-5F0D-1652-C233978FF9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7840" y="214036"/>
                <a:ext cx="3603413" cy="6400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FCBC554-5319-CFDB-C7CB-1DE7F5383166}"/>
                  </a:ext>
                </a:extLst>
              </p:cNvPr>
              <p:cNvSpPr txBox="1"/>
              <p:nvPr/>
            </p:nvSpPr>
            <p:spPr>
              <a:xfrm>
                <a:off x="913552" y="1158240"/>
                <a:ext cx="2771987" cy="2862322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 contourW="12700">
                <a:contourClr>
                  <a:schemeClr val="tx1"/>
                </a:contourClr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b="1" dirty="0">
                  <a:solidFill>
                    <a:schemeClr val="bg1"/>
                  </a:solidFill>
                  <a:latin typeface="Arial Black" panose="020B0A04020102020204" pitchFamily="34" charset="0"/>
                </a:endParaRPr>
              </a:p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To analyze Spotify’s extensive track data and provide actionable insights into listener preferences, track performance, and content trends.</a:t>
                </a:r>
              </a:p>
              <a:p>
                <a:pPr algn="just"/>
                <a:endParaRPr lang="en-IN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FAA52D-E0FE-3A26-D698-D9D6C1839A87}"/>
                  </a:ext>
                </a:extLst>
              </p:cNvPr>
              <p:cNvSpPr txBox="1"/>
              <p:nvPr/>
            </p:nvSpPr>
            <p:spPr>
              <a:xfrm>
                <a:off x="791632" y="4399280"/>
                <a:ext cx="1890608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Mission</a:t>
                </a:r>
                <a:endParaRPr lang="en-IN" sz="2000" dirty="0">
                  <a:solidFill>
                    <a:schemeClr val="bg1"/>
                  </a:solidFill>
                  <a:latin typeface="Arial Black" panose="020B0A04020102020204" pitchFamily="34" charset="0"/>
                </a:endParaRP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DAD4ED0-F840-39BD-5BA5-4E6BE7F77BE6}"/>
                </a:ext>
              </a:extLst>
            </p:cNvPr>
            <p:cNvSpPr txBox="1"/>
            <p:nvPr/>
          </p:nvSpPr>
          <p:spPr>
            <a:xfrm>
              <a:off x="8005232" y="4051042"/>
              <a:ext cx="189060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Vision</a:t>
              </a:r>
              <a:endParaRPr lang="en-IN" sz="2000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8D3BDF4C-F22E-B014-1AD1-A489553BD2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2782" y="2959686"/>
            <a:ext cx="3320642" cy="90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183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0000"/>
            <a:lum/>
          </a:blip>
          <a:srcRect/>
          <a:stretch>
            <a:fillRect l="-48000" r="-4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763816-CA4E-A0FB-2923-CC05638C1E9D}"/>
              </a:ext>
            </a:extLst>
          </p:cNvPr>
          <p:cNvSpPr txBox="1"/>
          <p:nvPr/>
        </p:nvSpPr>
        <p:spPr>
          <a:xfrm>
            <a:off x="980965" y="1341820"/>
            <a:ext cx="6302704" cy="76944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rial Black" panose="020B0A04020102020204" pitchFamily="34" charset="0"/>
                <a:hlinkClick r:id="rId3"/>
              </a:rPr>
              <a:t>Dataset</a:t>
            </a:r>
            <a:r>
              <a:rPr lang="en-US" sz="44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Arial Black" panose="020B0A04020102020204" pitchFamily="34" charset="0"/>
              </a:rPr>
              <a:t>click to view dataset</a:t>
            </a:r>
            <a:endParaRPr lang="en-IN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A680AF-7EF2-DFC6-4FCA-04B64FB924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3848" y="2974250"/>
            <a:ext cx="3320642" cy="90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597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2" name="Add-in 1">
                <a:extLst>
                  <a:ext uri="{FF2B5EF4-FFF2-40B4-BE49-F238E27FC236}">
                    <a16:creationId xmlns:a16="http://schemas.microsoft.com/office/drawing/2014/main" id="{5035D35F-AC2B-1B8C-C0EC-8CE7EE4F336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916580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2" name="Add-in 1">
                <a:extLst>
                  <a:ext uri="{FF2B5EF4-FFF2-40B4-BE49-F238E27FC236}">
                    <a16:creationId xmlns:a16="http://schemas.microsoft.com/office/drawing/2014/main" id="{5035D35F-AC2B-1B8C-C0EC-8CE7EE4F336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2306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0000"/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9BB086-2403-EAF9-F904-957B23F054EE}"/>
              </a:ext>
            </a:extLst>
          </p:cNvPr>
          <p:cNvSpPr txBox="1"/>
          <p:nvPr/>
        </p:nvSpPr>
        <p:spPr>
          <a:xfrm>
            <a:off x="4550979" y="302983"/>
            <a:ext cx="3090041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Conclusion</a:t>
            </a:r>
            <a:endParaRPr lang="en-IN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EE5DCA-D8E0-3C03-54AB-9BB886902914}"/>
              </a:ext>
            </a:extLst>
          </p:cNvPr>
          <p:cNvSpPr txBox="1"/>
          <p:nvPr/>
        </p:nvSpPr>
        <p:spPr>
          <a:xfrm>
            <a:off x="693683" y="1476704"/>
            <a:ext cx="4319750" cy="507831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Key Insights: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u="sng" dirty="0">
                <a:solidFill>
                  <a:schemeClr val="bg1"/>
                </a:solidFill>
              </a:rPr>
              <a:t>Popular Content:</a:t>
            </a:r>
            <a:r>
              <a:rPr lang="en-US" u="sng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The album “Big Dawgs” and artist “The Chainsmokers, Coldplay” dominate track performance.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u="sng" dirty="0">
                <a:solidFill>
                  <a:schemeClr val="bg1"/>
                </a:solidFill>
              </a:rPr>
              <a:t>Track Distribution:</a:t>
            </a:r>
            <a:r>
              <a:rPr lang="en-US" u="sng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Most tracks fall in the 0–10 popularity range; only a small fraction exceeds 90.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u="sng" dirty="0">
                <a:solidFill>
                  <a:schemeClr val="bg1"/>
                </a:solidFill>
              </a:rPr>
              <a:t>Language Trends:</a:t>
            </a:r>
            <a:r>
              <a:rPr lang="en-US" u="sng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Tamil dominates track distribution, followed by English and Hindi.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u="sng" dirty="0">
                <a:solidFill>
                  <a:schemeClr val="bg1"/>
                </a:solidFill>
              </a:rPr>
              <a:t>Mood &amp; Tempo:</a:t>
            </a:r>
            <a:r>
              <a:rPr lang="en-US" u="sng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Higher preference for bright tones, moderate valence, and tempos between 80–120 BPM.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C01A87-EB83-01AE-F1A8-01A9FCC7FCCF}"/>
              </a:ext>
            </a:extLst>
          </p:cNvPr>
          <p:cNvSpPr txBox="1"/>
          <p:nvPr/>
        </p:nvSpPr>
        <p:spPr>
          <a:xfrm>
            <a:off x="6926317" y="1476704"/>
            <a:ext cx="4572000" cy="507831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u="sng" dirty="0"/>
              <a:t>Suggestions for Spotify: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u="sng" dirty="0"/>
              <a:t>Expand Content Localization: </a:t>
            </a:r>
            <a:r>
              <a:rPr lang="en-US" dirty="0"/>
              <a:t>Given the dominance of Tamil tracks, invest in regional languages to capture diverse audiences.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u="sng" dirty="0"/>
              <a:t>Increase Discovery: </a:t>
            </a:r>
            <a:r>
              <a:rPr lang="en-US" dirty="0"/>
              <a:t>Enhance discoverability of lesser-known tracks to diversify user engagement.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u="sng" dirty="0"/>
              <a:t>Focus on Personalization: </a:t>
            </a:r>
            <a:r>
              <a:rPr lang="en-US" dirty="0"/>
              <a:t>Refine AI recommendations for niche genres and preferences.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u="sng" dirty="0"/>
              <a:t>Support for Artists: </a:t>
            </a:r>
            <a:r>
              <a:rPr lang="en-US" dirty="0"/>
              <a:t>Provide actionable insights to artists for creating content aligned with popular trends.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040200-CC1B-60FC-13A5-778FF1EA21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163" y="3421117"/>
            <a:ext cx="1817423" cy="49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425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1EAA4E-EF65-4958-BADC-FA3BDD2AC2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1996" y="2069322"/>
            <a:ext cx="3235435" cy="36952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1BC63A-2869-CD9C-2A1A-12C9976F3C74}"/>
              </a:ext>
            </a:extLst>
          </p:cNvPr>
          <p:cNvSpPr txBox="1"/>
          <p:nvPr/>
        </p:nvSpPr>
        <p:spPr>
          <a:xfrm>
            <a:off x="2382644" y="174268"/>
            <a:ext cx="6738116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u="sng" dirty="0">
                <a:solidFill>
                  <a:schemeClr val="bg1"/>
                </a:solidFill>
                <a:latin typeface="Arial Black" panose="020B0A04020102020204" pitchFamily="34" charset="0"/>
              </a:rPr>
              <a:t>Reference</a:t>
            </a:r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Dataset: </a:t>
            </a: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  <a:hlinkClick r:id="rId4"/>
              </a:rPr>
              <a:t>Kaggle</a:t>
            </a:r>
            <a:endParaRPr lang="en-US" sz="32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571500" indent="-571500" algn="ctr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endParaRPr lang="en-IN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6F4C75-4D3F-EEE2-7AD0-779CB30770A7}"/>
              </a:ext>
            </a:extLst>
          </p:cNvPr>
          <p:cNvSpPr txBox="1"/>
          <p:nvPr/>
        </p:nvSpPr>
        <p:spPr>
          <a:xfrm>
            <a:off x="3912585" y="5806569"/>
            <a:ext cx="40542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Scan to view the Dashboard</a:t>
            </a:r>
            <a:endParaRPr 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endParaRPr lang="en-IN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907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E203FBE6-D50E-4F84-A507-D871F5C668A8}">
  <we:reference id="wa200003233" version="2.0.0.3" store="en-US" storeType="OMEX"/>
  <we:alternateReferences>
    <we:reference id="wa200003233" version="2.0.0.3" store="" storeType="OMEX"/>
  </we:alternateReferences>
  <we:properties>
    <we:property name="artifactViewState" value="&quot;live&quot;"/>
    <we:property name="backgroundColor" value="&quot;#3E3E3E&quot;"/>
    <we:property name="bookmark" value="&quot;H4sIAAAAAAAAA+1Z30/kNhD+V1BerpVWlZ3ETswbUMrL3QkVxEuFThN7vOTIxpHjULaI/72Os8uv7i10YfeW9t429jD+xt/nmbG5iVTZNhVMP8MEo91o35jLCdjLHRqNonoYo5jRRCJRQvM0YypmlPtZ07jS1G20exM5sGN0Z2XbQdU78oN/nI8iqKpjGPdfGqoWR1GDtjU1VOVfOBj7KWc7vB1FeN1UxkLv8sSBw97tlTf33z2EXxK/IkhXXuEJSjeMQqKAxwSJjBEKBEmKHnY7GARkC01612H5A1M7KGu/TD+WUU1JLNNc5AUgzYtCyX5cl5WbmRTTw+vG+uh8zNOm35w9dQW1RBWFECy2A+Kb6BNC29kQx+GjiRPTWYm/ow5TtSvd1PtpG+NKPf3iLMjLNrr1W3Jsjd+wMPvJtG7n2DRdBXZnryq6SbC4MH8eWPS7paJdcjv6nqBOe5MtAHVqHFQDmnYBnHM/0pb1uJoJ8F4LpwNKCVbNprzEi69eSz3z/s+MVWj3p4H8X0s7VyEdPUG9fuJ9FN4qiznXVBZExRyEpjFkeivlal3Zuo1wEW+Qi3lUAxmQxipOfJYRmkmdaMjSvHe9NL5y4rPj49B6XyJWTAHjiSSYEp4SmqpVfcVCiVgyn74xFwXLGeTkWV8Or11hrv/pLUXOqI6LjIlEM6WZyJPVJXdgqm5Svw03UwS7isTaqpRoH0UaTdBXs/6HAgchkmZYqMRh3qgwjSHQm+hj6YMffJ9B1fVuP+xDW8oPvTzmAgm1yyP++qA6BfM2LLGGzTgPnGlG8ywrCNdCpTHLCVXsWc4O/AaOjS1lOHrro+2kQZQXvgK37c5szekPGpdvzkBrCmmONM1IzjJIM4pSPJ/9N0VrBfW46/PRClTCLF2cBEoXpf+g6tRnyCwHqbWQKXDFObyH8F/QDu2NxxbH4Gafh2uDGUa/hCa/n/mtq2dllK1Am+7qGleu01sR8+35N8733eF76xP+QCjDqVYEE845KXIkhHLIdbGkwM7uZ5LFIstywSUKIgRNOcs9ETOdnZrm81rVDn1Xer+lD3VDe73PUBacp3ECuYrR37LyPE2R3qPcTF+6d3Y0b+B682VwY6pByUxlSkvQHFicyW2EuzXZ5IkMlmaT0YtS8pE1XTMH8Wp8zd1G7vw07j23P/sVwxqoho14+xLePGTvfJUrUNW1/uTPER5cgHVbn2SXSeFlSfY/SP2Q4EEU/kYmeaJlwuOUJZBsT98SOuL3/4SjTN25V52UdYaz+S5jRusgQKlFmiZaa8KY5gJErp6/wm9KgB9Np8J158g2W948/5ty9/Isvw/2/5Li16ibQekJI4pilgEtEpEwKmKePav09yWs79FHOZw0ZoN1NKy3uHt6WfhvCeYMKvTyeNVb1Y/D/uYcDAeeppmKKREkKzTynEhJw0vn8uemgHi/c84jevLMFLwuelE0nWsbkHgMNS54WfT6g1qhmv3+1uti+Kfo3dvi7e3fnl5tA4wdAAA=&quot;"/>
    <we:property name="creatorSessionId" value="&quot;880a2a02-e06f-4559-bf07-f41ed4a198b2&quot;"/>
    <we:property name="creatorTenantId" value="&quot;b882916c-be1f-4ca0-a3d6-615b0a83ea79&quot;"/>
    <we:property name="creatorUserId" value="&quot;10032004202E877C&quot;"/>
    <we:property name="datasetId" value="&quot;e86e7f51-ad7f-44e8-bb0b-48c8922af3f4&quot;"/>
    <we:property name="embedUrl" value="&quot;/reportEmbed?reportId=e71fd0ad-a0ad-4a60-86d9-186a0e3c291c&amp;groupId=b102385d-06cf-4a43-8f75-82a98ce35d6d&amp;w=2&amp;config=eyJjbHVzdGVyVXJsIjoiaHR0cHM6Ly9XQUJJLVVTLUVBU1QyLUQtUFJJTUFSWS1yZWRpcmVjdC5hbmFseXNpcy53aW5kb3dzLm5ldCIsImVtYmVkRmVhdHVyZXMiOnsidXNhZ2VNZXRyaWNzVk5leHQiOnRydWV9fQ%3D%3D&amp;disableSensitivityBanner=true&quot;"/>
    <we:property name="initialStateBookmark" value="&quot;H4sIAAAAAAAAA+1ZTW/jNhD9K4Eu2wJGIeqDEnNz0jSH3WSDTZBLEQQjcuhoI4sCRaVxA//3pSg5X/XaqRN7nXZvNknPvOF7nBnSd57I66qAyTGM0dv19pS6HoO+3iHewCv7sc+fPx4Nv3y8PB4eHdhhVZlclbW3e+cZ0CM053ndQNFasIN/Xgw8KIoTGLXfJBQ1DrwKda1KKPK/sVtsp4xucDrw8LYqlIbW5KkBg63ZG7vcfre+yW+h9Qjc5Dd4itx0oxAKoIGPPg8QMgTuZy3eulvgkM1d0pp27vdVaSAvrZt2LCGS+AGPUpZmgCTNMsHbcZkXpl+STQ5uK22jszFPqnZXhuIGSo7CcyForDvEd94RQt1oF8fBk4lT1WiOX1C6qdLkZmLt1JUyuZxcGg38uvamdktOtLIb5maPVG12TlTVFKB3hkXWjN2KK/XXvka7W8Lb9aeDHwnqrF2yBaDOlIGiQ1PPgXNhR+q8HBW9AB+0cNah5KBFP2Ulnn21WmqZtz9TWqDemzjyf8/1TIVk8Az1+om3UdhVSUCpJDzzRUCBSRJAIrdSrtrktdkIF8EGuZhF1ZEBUSCC0GYZJmMuQwlJlLamF8aXj212fBpaa4sFIhYQ05D7GPk08kkkVrUVMMECHoccMWVZnMaQ+kttGbw1mbr9p7UIaUxkkCUxC2UsZMzScHXJ7auiGZdvw80EQa8isbrIOeonkXpjtNWs/SDAgIuk6hzl2M0r4abRBXrnfcpt8J3tcyia1uyHPahz/qGVx0wgrnZZxF8fVSe3vHYu1rAZF44zGZM0STKfSiaiIE59IuKlnO3bDRwpnXN39NZH22mFyK9sBa7rnd7n5CeNizenozWCKEUSJX4aJxAlBDlbnv03RWsB5ahp89EKVEKfLk4dpfPSv1N1ZDNkkgKXkvEIqKAU3kP4L2iHhqORxhGY/uvB2mC60UvX3bczfzRlX0bjFWiTTVniynV6K2KeXnznfN8fvrc+4Y+E0p1q4WNIKfWzFH2fUEhltqDA9hczHgcsSVJGOTKfMRLROLVE9Do7U9XxWtUObVf6sKWPdUNavfcoM0qjIIRUBGhvWWkaRUgeUG6mLx2eH84auHb5IrgBkSB4IhIhOUgKcZDwbYS7NdnkmQwWZpPBi1LyoVZNNQPxanzV/Ubu/DJqLde/Wo/OB4puI96+hFeP2btY5QpUNLU9+TOE+1egzdYn2UVSeFmS/Q9S3yV4YJm9kXEaSh7SIIpDCLenb3Ed8ft/whGqbMyrTso6w9l8l9HT2gmQSxZFoZTSj2NJGbBULL/Cb0qAn1Qj3HXnUFdb3jz/m3L38iy/B/r/kuLXqJtO6WHsC4JJAiQLWRgTFtBkqdLfl7B+RB9lcFypDdZR529+9/Sy8N8SzDkUaOXxqreqn4f9zTnoDjyJEhEQn/lJJpGmPufEvXQufm5yiPcaYyyiZ89Mzuq8F0XVmLoCjidQ4pyXRas/KAWK/vP3Xhfdn6Kec2Ih5Vmx7Dmy/av0/i1yOv0Gg9ysfbUdAAA=&quot;"/>
    <we:property name="isFiltersActionButtonVisible" value="true"/>
    <we:property name="isVisualContainerHeaderHidden" value="false"/>
    <we:property name="pageDisplayName" value="&quot;Spotify_Dashboard&quot;"/>
    <we:property name="pageName" value="&quot;a3da620e0c2eabeac0b1&quot;"/>
    <we:property name="reportEmbeddedTime" value="&quot;2025-01-03T21:51:52.911Z&quot;"/>
    <we:property name="reportName" value="&quot;Saloni Shahi's Spotify Dashboard&quot;"/>
    <we:property name="reportState" value="&quot;CONNECTED&quot;"/>
    <we:property name="reportUrl" value="&quot;/groups/b102385d-06cf-4a43-8f75-82a98ce35d6d/reports/e71fd0ad-a0ad-4a60-86d9-186a0e3c291c?ctid=b882916c-be1f-4ca0-a3d6-615b0a83ea79&amp;pbi_source=linkShar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654</TotalTime>
  <Words>307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Arial Black</vt:lpstr>
      <vt:lpstr>Arial Rounded MT Bold</vt:lpstr>
      <vt:lpstr>Calibri</vt:lpstr>
      <vt:lpstr>Calibri Light</vt:lpstr>
      <vt:lpstr>Gill Sans MT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Saloni Shahi</dc:creator>
  <cp:lastModifiedBy>Saloni Shahi</cp:lastModifiedBy>
  <cp:revision>11</cp:revision>
  <dcterms:created xsi:type="dcterms:W3CDTF">2025-01-03T13:30:52Z</dcterms:created>
  <dcterms:modified xsi:type="dcterms:W3CDTF">2025-01-08T07:26:41Z</dcterms:modified>
</cp:coreProperties>
</file>